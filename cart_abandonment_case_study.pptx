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56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Sessions</c:v>
                </c:pt>
              </c:strCache>
            </c:strRef>
          </c:tx>
          <c:spPr>
            <a:solidFill>
              <a:srgbClr val="0B1D3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961-49BA-A37E-18B5099C1404}"/>
              </c:ext>
            </c:extLst>
          </c:dPt>
          <c:dPt>
            <c:idx val="1"/>
            <c:invertIfNegative val="0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61-49BA-A37E-18B5099C1404}"/>
              </c:ext>
            </c:extLst>
          </c:dPt>
          <c:dPt>
            <c:idx val="2"/>
            <c:invertIfNegative val="0"/>
            <c:bubble3D val="0"/>
            <c:spPr>
              <a:solidFill>
                <a:srgbClr val="E89B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61-49BA-A37E-18B5099C1404}"/>
              </c:ext>
            </c:extLst>
          </c:dPt>
          <c:dPt>
            <c:idx val="3"/>
            <c:invertIfNegative val="0"/>
            <c:bubble3D val="0"/>
            <c:spPr>
              <a:solidFill>
                <a:srgbClr val="1A7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961-49BA-A37E-18B5099C140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530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Total Sessions</c:v>
                </c:pt>
                <c:pt idx="1">
                  <c:v>Added to Cart</c:v>
                </c:pt>
                <c:pt idx="2">
                  <c:v>Checkout Started</c:v>
                </c:pt>
                <c:pt idx="3">
                  <c:v>Purchase Completed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1000</c:v>
                </c:pt>
                <c:pt idx="1">
                  <c:v>683</c:v>
                </c:pt>
                <c:pt idx="2">
                  <c:v>392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961-49BA-A37E-18B5099C140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53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0"/>
        </c:scaling>
        <c:delete val="0"/>
        <c:axPos val="b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Reasons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03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2059-4DBC-9F85-457D0A7DE642}"/>
              </c:ext>
            </c:extLst>
          </c:dPt>
          <c:dPt>
            <c:idx val="1"/>
            <c:bubble3D val="0"/>
            <c:spPr>
              <a:solidFill>
                <a:srgbClr val="E89B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059-4DBC-9F85-457D0A7DE642}"/>
              </c:ext>
            </c:extLst>
          </c:dPt>
          <c:dPt>
            <c:idx val="2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059-4DBC-9F85-457D0A7DE642}"/>
              </c:ext>
            </c:extLst>
          </c:dPt>
          <c:dPt>
            <c:idx val="3"/>
            <c:bubble3D val="0"/>
            <c:spPr>
              <a:solidFill>
                <a:srgbClr val="0B1D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059-4DBC-9F85-457D0A7DE64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059-4DBC-9F85-457D0A7DE64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059-4DBC-9F85-457D0A7DE64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059-4DBC-9F85-457D0A7DE64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059-4DBC-9F85-457D0A7DE64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Slow Website</c:v>
                </c:pt>
                <c:pt idx="1">
                  <c:v>Just Browsing</c:v>
                </c:pt>
                <c:pt idx="2">
                  <c:v>Payment Failure</c:v>
                </c:pt>
                <c:pt idx="3">
                  <c:v>High Shipping Cost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129</c:v>
                </c:pt>
                <c:pt idx="1">
                  <c:v>125</c:v>
                </c:pt>
                <c:pt idx="2">
                  <c:v>120</c:v>
                </c:pt>
                <c:pt idx="3">
                  <c:v>109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2059-4DBC-9F85-457D0A7DE6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253044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(%)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530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Mobile</c:v>
                </c:pt>
                <c:pt idx="1">
                  <c:v>Desktop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19.399999999999999</c:v>
                </c:pt>
                <c:pt idx="1">
                  <c:v>21.6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C2-4825-9080-D740D53DD3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Abandonment Rate (%)</c:v>
                </c:pt>
              </c:strCache>
            </c:strRef>
          </c:tx>
          <c:spPr>
            <a:solidFill>
              <a:srgbClr val="E039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530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Mobile</c:v>
                </c:pt>
                <c:pt idx="1">
                  <c:v>Desktop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71.900000000000006</c:v>
                </c:pt>
                <c:pt idx="1">
                  <c:v>67.7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C2-4825-9080-D740D53DD3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53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5"/>
        </c:scaling>
        <c:delete val="0"/>
        <c:axPos val="l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(%)</c:v>
                </c:pt>
              </c:strCache>
            </c:strRef>
          </c:tx>
          <c:spPr>
            <a:solidFill>
              <a:srgbClr val="1A7A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070-4442-9951-75A9C648FF75}"/>
              </c:ext>
            </c:extLst>
          </c:dPt>
          <c:dPt>
            <c:idx val="1"/>
            <c:invertIfNegative val="0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070-4442-9951-75A9C648FF75}"/>
              </c:ext>
            </c:extLst>
          </c:dPt>
          <c:dPt>
            <c:idx val="2"/>
            <c:invertIfNegative val="0"/>
            <c:bubble3D val="0"/>
            <c:spPr>
              <a:solidFill>
                <a:srgbClr val="E89B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070-4442-9951-75A9C648FF75}"/>
              </c:ext>
            </c:extLst>
          </c:dPt>
          <c:dPt>
            <c:idx val="3"/>
            <c:invertIfNegative val="0"/>
            <c:bubble3D val="0"/>
            <c:spPr>
              <a:solidFill>
                <a:srgbClr val="E039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070-4442-9951-75A9C648FF7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25304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Fashion</c:v>
                </c:pt>
                <c:pt idx="1">
                  <c:v>Beauty</c:v>
                </c:pt>
                <c:pt idx="2">
                  <c:v>Electronics</c:v>
                </c:pt>
                <c:pt idx="3">
                  <c:v>Home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37.700000000000003</c:v>
                </c:pt>
                <c:pt idx="1">
                  <c:v>29.1</c:v>
                </c:pt>
                <c:pt idx="2">
                  <c:v>27.1</c:v>
                </c:pt>
                <c:pt idx="3">
                  <c:v>22.4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070-4442-9951-75A9C648FF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53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635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8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6296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E0394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60F22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2487168"/>
            <a:ext cx="8138160" cy="32004"/>
          </a:xfrm>
          <a:prstGeom prst="rect">
            <a:avLst/>
          </a:prstGeom>
          <a:solidFill>
            <a:srgbClr val="E89B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777240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5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 CASE STUDY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115568"/>
            <a:ext cx="74980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Cart Abandonment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1993392"/>
            <a:ext cx="7498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E8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E-commerce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05840" y="2633472"/>
            <a:ext cx="7132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B8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analysis of 1,000 user sessions to identify</a:t>
            </a:r>
            <a:endParaRPr lang="en-US" sz="14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B8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friction and improve conversion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709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7A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1,000 Sessions   |   4 Device Types   |   4 Product Categories   |   4 Abandonment Reasons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28016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customers not completing their purchases?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4160520" cy="3931920"/>
          </a:xfrm>
          <a:prstGeom prst="rect">
            <a:avLst/>
          </a:prstGeom>
          <a:solidFill>
            <a:srgbClr val="0B1D3E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0241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426464"/>
            <a:ext cx="3657600" cy="27432"/>
          </a:xfrm>
          <a:prstGeom prst="rect">
            <a:avLst/>
          </a:prstGeom>
          <a:solidFill>
            <a:srgbClr val="2A3F6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are adding products to their cart but abandoning before checkout is complete — causing significant and measurable revenue loss.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4871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our dataset of 1,000 user sessions: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761488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E0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57200" y="34930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3749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 of sessions with items in cart never complete purchase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63440" y="98755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335024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335024"/>
            <a:ext cx="64008" cy="76809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408176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321808" y="14081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Cart Abandonment by 20%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321808" y="173736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checkout funnel to convert more visitors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21284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12848"/>
            <a:ext cx="64008" cy="76809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2286000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21808" y="2286000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Checkout Experience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321808" y="261518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payment flow, reduce steps and friction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090672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3090672"/>
            <a:ext cx="64008" cy="76809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3163824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321808" y="3163824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Overall Conversion Rate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21808" y="349300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20% toward industry benchmark of 30%+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968496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968496"/>
            <a:ext cx="64008" cy="76809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4041648"/>
            <a:ext cx="4754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21808" y="4041648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&amp; Fix Root Causes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321808" y="4370832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data to find payment, UX, and cost-transparency gaps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28016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complete analysis of 1,000 user sessions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1938528" cy="1207008"/>
          </a:xfrm>
          <a:prstGeom prst="rect">
            <a:avLst/>
          </a:prstGeom>
          <a:solidFill>
            <a:srgbClr val="0B1D3E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097280"/>
            <a:ext cx="1755648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" y="1760037"/>
            <a:ext cx="1755648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Sessions Analyzed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987552"/>
            <a:ext cx="1938528" cy="1207008"/>
          </a:xfrm>
          <a:prstGeom prst="rect">
            <a:avLst/>
          </a:prstGeom>
          <a:solidFill>
            <a:srgbClr val="0A7E8C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1097280"/>
            <a:ext cx="1755648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23744" y="1760037"/>
            <a:ext cx="1755648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Cart  (68.3%)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987552"/>
            <a:ext cx="1938528" cy="1207008"/>
          </a:xfrm>
          <a:prstGeom prst="rect">
            <a:avLst/>
          </a:prstGeom>
          <a:solidFill>
            <a:srgbClr val="1A7A4A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1097280"/>
            <a:ext cx="1755648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00016" y="1760037"/>
            <a:ext cx="1755648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Completed (20%)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84848" y="987552"/>
            <a:ext cx="1938528" cy="1207008"/>
          </a:xfrm>
          <a:prstGeom prst="rect">
            <a:avLst/>
          </a:prstGeom>
          <a:solidFill>
            <a:srgbClr val="E0394A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76288" y="1097280"/>
            <a:ext cx="1755648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76288" y="1760037"/>
            <a:ext cx="1755648" cy="4103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" y="237744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56032" y="2651760"/>
          <a:ext cx="5120640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5577840" y="237744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ABANDONMENT REASONS</a:t>
            </a:r>
            <a:endParaRPr lang="en-US" sz="1000" dirty="0"/>
          </a:p>
        </p:txBody>
      </p:sp>
      <p:graphicFrame>
        <p:nvGraphicFramePr>
          <p:cNvPr id="21" name="Chart 1"/>
          <p:cNvGraphicFramePr/>
          <p:nvPr/>
        </p:nvGraphicFramePr>
        <p:xfrm>
          <a:off x="5440680" y="2651760"/>
          <a:ext cx="3474720" cy="2267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28016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Analysis — Where Users Drop Off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every session through the purchase journey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987552"/>
            <a:ext cx="7863840" cy="694944"/>
          </a:xfrm>
          <a:prstGeom prst="rect">
            <a:avLst/>
          </a:prstGeom>
          <a:solidFill>
            <a:srgbClr val="0B1D3E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060704"/>
            <a:ext cx="408919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353312"/>
            <a:ext cx="408919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sessions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65192" y="1060704"/>
            <a:ext cx="3302813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1309743" y="1828800"/>
            <a:ext cx="6309360" cy="694944"/>
          </a:xfrm>
          <a:prstGeom prst="rect">
            <a:avLst/>
          </a:prstGeom>
          <a:solidFill>
            <a:srgbClr val="0A7E8C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00200" y="1956816"/>
            <a:ext cx="32808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CART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00200" y="2249424"/>
            <a:ext cx="328086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683 sessions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87468" y="1956816"/>
            <a:ext cx="2649931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68.3%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6032" y="2596896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Drop: -31.7%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94560" y="2779776"/>
            <a:ext cx="4754880" cy="694944"/>
          </a:xfrm>
          <a:prstGeom prst="rect">
            <a:avLst/>
          </a:prstGeom>
          <a:solidFill>
            <a:srgbClr val="E89B45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377440" y="2852928"/>
            <a:ext cx="24725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STARTED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77440" y="3145536"/>
            <a:ext cx="24725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392 sessions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9744" y="2852928"/>
            <a:ext cx="199705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39.2%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6032" y="3493008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Drop: -29.1%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71800" y="3675888"/>
            <a:ext cx="3200400" cy="694944"/>
          </a:xfrm>
          <a:prstGeom prst="rect">
            <a:avLst/>
          </a:prstGeom>
          <a:solidFill>
            <a:srgbClr val="1A7A4A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154680" y="3749040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COMPLETED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54680" y="4041648"/>
            <a:ext cx="1664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8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sessions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2020" y="3749040"/>
            <a:ext cx="1344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256032" y="4389120"/>
            <a:ext cx="8631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0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Drop: -19.2%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58184" y="4589212"/>
            <a:ext cx="8631936" cy="476295"/>
          </a:xfrm>
          <a:prstGeom prst="rect">
            <a:avLst/>
          </a:prstGeom>
          <a:solidFill>
            <a:srgbClr val="0B1D3E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26" name="Text 24"/>
          <p:cNvSpPr/>
          <p:nvPr/>
        </p:nvSpPr>
        <p:spPr>
          <a:xfrm>
            <a:off x="256032" y="4590288"/>
            <a:ext cx="8540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Checkout stage is the critical drop point — Only 20% of total sessions convert to purchase, with a significant drop occurring during checkout, indicating payment friction and transparency issues.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28016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Analysis — Mobile vs Desktop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abandonment behavior across device types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1938528" cy="1170432"/>
          </a:xfrm>
          <a:prstGeom prst="rect">
            <a:avLst/>
          </a:prstGeom>
          <a:solidFill>
            <a:srgbClr val="0B1D3E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1097280"/>
            <a:ext cx="1755648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" y="1736628"/>
            <a:ext cx="1755648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Share of Sessions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708 of 1,000 sessions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987552"/>
            <a:ext cx="1938528" cy="1170432"/>
          </a:xfrm>
          <a:prstGeom prst="rect">
            <a:avLst/>
          </a:prstGeom>
          <a:solidFill>
            <a:srgbClr val="E0394A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23744" y="1097280"/>
            <a:ext cx="1755648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71.9%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2523744" y="1736628"/>
            <a:ext cx="1755648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Abandonment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351 abandoned of 488 carts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987552"/>
            <a:ext cx="1938528" cy="1170432"/>
          </a:xfrm>
          <a:prstGeom prst="rect">
            <a:avLst/>
          </a:prstGeom>
          <a:solidFill>
            <a:srgbClr val="0A7E8C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00016" y="1097280"/>
            <a:ext cx="1755648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67.7%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700016" y="1736628"/>
            <a:ext cx="1755648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Abandonment Rate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abandoned of 195 carts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84848" y="987552"/>
            <a:ext cx="1938528" cy="1170432"/>
          </a:xfrm>
          <a:prstGeom prst="rect">
            <a:avLst/>
          </a:prstGeom>
          <a:solidFill>
            <a:srgbClr val="A0621A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76288" y="1097280"/>
            <a:ext cx="1755648" cy="60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+4.2%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876288" y="1736628"/>
            <a:ext cx="1755648" cy="3979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vs Desktop Gap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abandons more frequently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6032" y="233172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&amp; ABANDONMENT BY DEVICE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256032" y="2606040"/>
          <a:ext cx="51206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Text 17"/>
          <p:cNvSpPr/>
          <p:nvPr/>
        </p:nvSpPr>
        <p:spPr>
          <a:xfrm>
            <a:off x="5577840" y="2331720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ABANDONMENT REASONS — MOBILE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77840" y="2633472"/>
            <a:ext cx="33375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77840" y="2633472"/>
            <a:ext cx="64008" cy="493776"/>
          </a:xfrm>
          <a:prstGeom prst="rect">
            <a:avLst/>
          </a:prstGeom>
          <a:solidFill>
            <a:srgbClr val="E0394A"/>
          </a:solidFill>
          <a:ln/>
        </p:spPr>
      </p:sp>
      <p:sp>
        <p:nvSpPr>
          <p:cNvPr id="23" name="Text 20"/>
          <p:cNvSpPr/>
          <p:nvPr/>
        </p:nvSpPr>
        <p:spPr>
          <a:xfrm>
            <a:off x="5724144" y="26883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Website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724144" y="29077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sessions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8247888" y="270662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0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577840" y="3209544"/>
            <a:ext cx="33375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5577840" y="3209544"/>
            <a:ext cx="64008" cy="493776"/>
          </a:xfrm>
          <a:prstGeom prst="rect">
            <a:avLst/>
          </a:prstGeom>
          <a:solidFill>
            <a:srgbClr val="E89B45"/>
          </a:solidFill>
          <a:ln/>
        </p:spPr>
      </p:sp>
      <p:sp>
        <p:nvSpPr>
          <p:cNvPr id="28" name="Text 25"/>
          <p:cNvSpPr/>
          <p:nvPr/>
        </p:nvSpPr>
        <p:spPr>
          <a:xfrm>
            <a:off x="5724144" y="32644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Browsing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724144" y="348386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sessions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8247888" y="328269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1800" dirty="0"/>
          </a:p>
        </p:txBody>
      </p:sp>
      <p:sp>
        <p:nvSpPr>
          <p:cNvPr id="31" name="Shape 28"/>
          <p:cNvSpPr/>
          <p:nvPr/>
        </p:nvSpPr>
        <p:spPr>
          <a:xfrm>
            <a:off x="5577840" y="3785616"/>
            <a:ext cx="33375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577840" y="3785616"/>
            <a:ext cx="64008" cy="49377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3" name="Text 30"/>
          <p:cNvSpPr/>
          <p:nvPr/>
        </p:nvSpPr>
        <p:spPr>
          <a:xfrm>
            <a:off x="5724144" y="38404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Shipping Cost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724144" y="40599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sessions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8247888" y="3858768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800" dirty="0"/>
          </a:p>
        </p:txBody>
      </p:sp>
      <p:sp>
        <p:nvSpPr>
          <p:cNvPr id="36" name="Shape 33"/>
          <p:cNvSpPr/>
          <p:nvPr/>
        </p:nvSpPr>
        <p:spPr>
          <a:xfrm>
            <a:off x="5577840" y="4361688"/>
            <a:ext cx="333756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577840" y="4361688"/>
            <a:ext cx="64008" cy="493776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38" name="Text 35"/>
          <p:cNvSpPr/>
          <p:nvPr/>
        </p:nvSpPr>
        <p:spPr>
          <a:xfrm>
            <a:off x="5724144" y="441655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5724144" y="46360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sessions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247888" y="443484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28016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Performance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rates across product categories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9875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 BY CATEGORY (%)</a:t>
            </a:r>
            <a:endParaRPr lang="en-US" sz="10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56032" y="1261872"/>
          <a:ext cx="5120640" cy="26334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577840" y="987552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BREAKDOWN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1261872"/>
            <a:ext cx="33375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1261872"/>
            <a:ext cx="64008" cy="67665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1" name="Text 8"/>
          <p:cNvSpPr/>
          <p:nvPr/>
        </p:nvSpPr>
        <p:spPr>
          <a:xfrm>
            <a:off x="5724144" y="1325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724144" y="162763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175   |   Purchased: 66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101584" y="1353312"/>
            <a:ext cx="768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37.7%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577840" y="2011680"/>
            <a:ext cx="33375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577840" y="2011680"/>
            <a:ext cx="64008" cy="67665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6" name="Text 13"/>
          <p:cNvSpPr/>
          <p:nvPr/>
        </p:nvSpPr>
        <p:spPr>
          <a:xfrm>
            <a:off x="5724144" y="20756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724144" y="23774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182   |   Purchased: 53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8101584" y="2103120"/>
            <a:ext cx="768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29.1%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5577840" y="2761488"/>
            <a:ext cx="33375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77840" y="2761488"/>
            <a:ext cx="64008" cy="676656"/>
          </a:xfrm>
          <a:prstGeom prst="rect">
            <a:avLst/>
          </a:prstGeom>
          <a:solidFill>
            <a:srgbClr val="E89B45"/>
          </a:solidFill>
          <a:ln/>
        </p:spPr>
      </p:sp>
      <p:sp>
        <p:nvSpPr>
          <p:cNvPr id="21" name="Text 18"/>
          <p:cNvSpPr/>
          <p:nvPr/>
        </p:nvSpPr>
        <p:spPr>
          <a:xfrm>
            <a:off x="5724144" y="282549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724144" y="31272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170   |   Purchased: 46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8101584" y="2852928"/>
            <a:ext cx="768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8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27.1%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5577840" y="3511296"/>
            <a:ext cx="33375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577840" y="3511296"/>
            <a:ext cx="64008" cy="676656"/>
          </a:xfrm>
          <a:prstGeom prst="rect">
            <a:avLst/>
          </a:prstGeom>
          <a:solidFill>
            <a:srgbClr val="E0394A"/>
          </a:solidFill>
          <a:ln/>
        </p:spPr>
      </p:sp>
      <p:sp>
        <p:nvSpPr>
          <p:cNvPr id="26" name="Text 23"/>
          <p:cNvSpPr/>
          <p:nvPr/>
        </p:nvSpPr>
        <p:spPr>
          <a:xfrm>
            <a:off x="5724144" y="357530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724144" y="38770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Adds: 156   |   Purchased: 35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101584" y="3602736"/>
            <a:ext cx="768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22.4%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256032" y="4315968"/>
            <a:ext cx="8631936" cy="658368"/>
          </a:xfrm>
          <a:prstGeom prst="rect">
            <a:avLst/>
          </a:prstGeom>
          <a:solidFill>
            <a:srgbClr val="0B1D3E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84048" y="4334256"/>
            <a:ext cx="837590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Home category has the lowest conversion (22.4%) despite similar pricing — suggesting category-specific UX friction. Fashion leads at 37.7%, indicating targeted checkout optimization can significantly lift lower-performing categories.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28016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Analysis — 5 Whys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the checkout problem to its systemic root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475488" cy="676656"/>
          </a:xfrm>
          <a:prstGeom prst="rect">
            <a:avLst/>
          </a:prstGeom>
          <a:solidFill>
            <a:srgbClr val="E0394A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987552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987552"/>
            <a:ext cx="817473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051560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users abandon checkout?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96112" y="132588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Payment friction and limited payment options cause drop-offs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" y="1792224"/>
            <a:ext cx="475488" cy="676656"/>
          </a:xfrm>
          <a:prstGeom prst="rect">
            <a:avLst/>
          </a:prstGeom>
          <a:solidFill>
            <a:srgbClr val="E89B4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1792224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2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31520" y="1792224"/>
            <a:ext cx="817473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1856232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there payment friction?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213055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system lacks diverse payment gateways (UPI, wallets, BNPL)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56032" y="2596896"/>
            <a:ext cx="475488" cy="67665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7" name="Text 15"/>
          <p:cNvSpPr/>
          <p:nvPr/>
        </p:nvSpPr>
        <p:spPr>
          <a:xfrm>
            <a:off x="256032" y="2596896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31520" y="2596896"/>
            <a:ext cx="817473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96112" y="266090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gateways limited?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96112" y="29352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Poor third-party payment integration and outdated API dependencies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56032" y="3401568"/>
            <a:ext cx="475488" cy="676656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22" name="Text 20"/>
          <p:cNvSpPr/>
          <p:nvPr/>
        </p:nvSpPr>
        <p:spPr>
          <a:xfrm>
            <a:off x="256032" y="3401568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4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520" y="3401568"/>
            <a:ext cx="817473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96112" y="3465576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integrations outdated?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96112" y="373989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structured upgrade cycle; payment stack has been deprioritized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" y="4206240"/>
            <a:ext cx="475488" cy="67665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4206240"/>
            <a:ext cx="475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31520" y="4206240"/>
            <a:ext cx="8174736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96112" y="4270248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was it deprioritized?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96112" y="454456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Lack of data-backed visibility into payment failure impact on revenue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56032" y="5029200"/>
            <a:ext cx="8631936" cy="54864"/>
          </a:xfrm>
          <a:prstGeom prst="rect">
            <a:avLst/>
          </a:prstGeom>
          <a:solidFill>
            <a:srgbClr val="E0394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28016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capabilities and external factors affecting cart abandonment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932688"/>
            <a:ext cx="4224528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32688"/>
            <a:ext cx="4224528" cy="38404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932688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1353312"/>
            <a:ext cx="402336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68.3% cart addition rate — strong product appeal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category leads with 37.7% conversion rate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sessions provide robust analytical base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Diverse product catalog across 4 categories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36592" y="932688"/>
            <a:ext cx="4224528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6592" y="932688"/>
            <a:ext cx="4224528" cy="384048"/>
          </a:xfrm>
          <a:prstGeom prst="rect">
            <a:avLst/>
          </a:prstGeom>
          <a:solidFill>
            <a:srgbClr val="E0394A"/>
          </a:solidFill>
          <a:ln/>
        </p:spPr>
      </p:sp>
      <p:sp>
        <p:nvSpPr>
          <p:cNvPr id="12" name="Text 10"/>
          <p:cNvSpPr/>
          <p:nvPr/>
        </p:nvSpPr>
        <p:spPr>
          <a:xfrm>
            <a:off x="4736592" y="932688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73752" y="1353312"/>
            <a:ext cx="402336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 overall cart abandonment rate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friction causing 120 direct abandonments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UX issues despite 70.8% mobile traffic share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drops 19.2% from cart to purchase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56032" y="2944368"/>
            <a:ext cx="4224528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032" y="2944368"/>
            <a:ext cx="4224528" cy="3840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" y="2944368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" y="3364992"/>
            <a:ext cx="402336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UPI, wallets, BNPL to reduce payment friction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shipping costs upfront — reduce surprise drop-offs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mobile checkout — largest audience segment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Home category UX (lowest conversion: 22.4%)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36592" y="2944368"/>
            <a:ext cx="4224528" cy="1883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36592" y="2944368"/>
            <a:ext cx="4224528" cy="384048"/>
          </a:xfrm>
          <a:prstGeom prst="rect">
            <a:avLst/>
          </a:prstGeom>
          <a:solidFill>
            <a:srgbClr val="E89B45"/>
          </a:solidFill>
          <a:ln/>
        </p:spPr>
      </p:sp>
      <p:sp>
        <p:nvSpPr>
          <p:cNvPr id="20" name="Text 18"/>
          <p:cNvSpPr/>
          <p:nvPr/>
        </p:nvSpPr>
        <p:spPr>
          <a:xfrm>
            <a:off x="4736592" y="2944368"/>
            <a:ext cx="4224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73752" y="3364992"/>
            <a:ext cx="402336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with frictionless 1-click checkout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mobile-first user expectations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shipping cost sensitivity (109 sessions abandoned)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trust loss from repeated payment failures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28016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Solutions, Functional &amp; Non-Functional Requirements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fixes backed by data evidence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56032" y="932688"/>
            <a:ext cx="86319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→  SOLUTION MAPPING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4225816"/>
              </p:ext>
            </p:extLst>
          </p:nvPr>
        </p:nvGraphicFramePr>
        <p:xfrm>
          <a:off x="256032" y="1188720"/>
          <a:ext cx="8522208" cy="2333574"/>
        </p:xfrm>
        <a:graphic>
          <a:graphicData uri="http://schemas.openxmlformats.org/drawingml/2006/table">
            <a:tbl>
              <a:tblPr/>
              <a:tblGrid>
                <a:gridCol w="2166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74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9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0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85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Evidence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9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friction &amp; limited options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charset="0"/>
                          <a:cs typeface="Calibri" pitchFamily="34" charset="-120"/>
                        </a:rPr>
                        <a:t>120 sessions are associated with payment- related drop-offs, indicating payment friction as a key contributor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UPI, wallets, BNPL payment gateways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3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85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shipping cost surprise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109 sessions abandoned — high shipping cost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total cost (incl. shipping) on product page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3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85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website / poor performance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129 sessions cited slow website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load optimization, CDN, lazy loading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3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UX friction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71.9% abandonment on mobile vs 67.7% desktop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Redesign mobile checkout, tap-friendly UI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SHOULD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7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4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Low-intent browsing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 sessions — 'just browsing' (non-actionable)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 save, exit-intent offers, re-engagement emails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530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COULD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256032" y="3637788"/>
            <a:ext cx="4096512" cy="1478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56032" y="3822192"/>
            <a:ext cx="202996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256032" y="3822192"/>
            <a:ext cx="54864" cy="49377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1" name="Text 8"/>
          <p:cNvSpPr/>
          <p:nvPr/>
        </p:nvSpPr>
        <p:spPr>
          <a:xfrm>
            <a:off x="384048" y="38587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Checkout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84048" y="407822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purchase without account registration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377440" y="3822192"/>
            <a:ext cx="202996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377440" y="3822192"/>
            <a:ext cx="54864" cy="49377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5" name="Text 12"/>
          <p:cNvSpPr/>
          <p:nvPr/>
        </p:nvSpPr>
        <p:spPr>
          <a:xfrm>
            <a:off x="2505456" y="3858768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Payment Methods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2505456" y="4078224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Cards, Wallets, BNPL support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56032" y="4398264"/>
            <a:ext cx="202996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56032" y="4389120"/>
            <a:ext cx="54864" cy="49377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19" name="Text 16"/>
          <p:cNvSpPr/>
          <p:nvPr/>
        </p:nvSpPr>
        <p:spPr>
          <a:xfrm>
            <a:off x="384048" y="44256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Save Feature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84048" y="46451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cart across sessions for returning users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377440" y="4389120"/>
            <a:ext cx="2029968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2377440" y="4389120"/>
            <a:ext cx="54864" cy="49377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23" name="Text 20"/>
          <p:cNvSpPr/>
          <p:nvPr/>
        </p:nvSpPr>
        <p:spPr>
          <a:xfrm>
            <a:off x="2505456" y="4425696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Upfront Cost Display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2505456" y="464515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shipping + total cost before checkout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0" y="3683508"/>
            <a:ext cx="4279392" cy="102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572000" y="3822192"/>
            <a:ext cx="2084832" cy="493776"/>
          </a:xfrm>
          <a:prstGeom prst="rect">
            <a:avLst/>
          </a:prstGeom>
          <a:solidFill>
            <a:srgbClr val="0B1D3E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663440" y="38587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Performance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663440" y="4078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&lt; 3 seconds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766560" y="3822192"/>
            <a:ext cx="2084832" cy="493776"/>
          </a:xfrm>
          <a:prstGeom prst="rect">
            <a:avLst/>
          </a:prstGeom>
          <a:solidFill>
            <a:srgbClr val="0B1D3E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858000" y="38587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Security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858000" y="407822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PCI-DSS compliant gateway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0" y="4389120"/>
            <a:ext cx="2084832" cy="493776"/>
          </a:xfrm>
          <a:prstGeom prst="rect">
            <a:avLst/>
          </a:prstGeom>
          <a:solidFill>
            <a:srgbClr val="0B1D3E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663440" y="4425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Mobile-First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4663440" y="4645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tap-friendly UI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766560" y="4389120"/>
            <a:ext cx="2084832" cy="493776"/>
          </a:xfrm>
          <a:prstGeom prst="rect">
            <a:avLst/>
          </a:prstGeom>
          <a:solidFill>
            <a:srgbClr val="0B1D3E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6858000" y="4425696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♿ Accessibility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6858000" y="464515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standard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64008" cy="50703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4" name="Text 2"/>
          <p:cNvSpPr/>
          <p:nvPr/>
        </p:nvSpPr>
        <p:spPr>
          <a:xfrm>
            <a:off x="256032" y="128016"/>
            <a:ext cx="8686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Success Metrics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56032" y="621792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will measure success of the proposed improvements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56032" y="987552"/>
            <a:ext cx="863193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987552"/>
            <a:ext cx="91440" cy="841248"/>
          </a:xfrm>
          <a:prstGeom prst="rect">
            <a:avLst/>
          </a:prstGeom>
          <a:solidFill>
            <a:srgbClr val="E0394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0789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Abandonment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4264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relative reduction target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023360" y="1069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23360" y="12618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760720" y="1152144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0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46520" y="10698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46520" y="126187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E0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56%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229600" y="1243584"/>
            <a:ext cx="594360" cy="310896"/>
          </a:xfrm>
          <a:prstGeom prst="rect">
            <a:avLst/>
          </a:prstGeom>
          <a:solidFill>
            <a:srgbClr val="E039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243584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1975104"/>
            <a:ext cx="863193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" y="1975104"/>
            <a:ext cx="91440" cy="84124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" y="20665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Conversion Rate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" y="24140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1-in-5 to nearly 1-in-3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023360" y="2057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023360" y="22494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20.0%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760720" y="2139696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446520" y="20574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46520" y="224942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28%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8229600" y="2231136"/>
            <a:ext cx="594360" cy="310896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2231136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56032" y="2962656"/>
            <a:ext cx="863193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2962656"/>
            <a:ext cx="91440" cy="841248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3054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Completion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5488" y="340156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sessions that started checkout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23360" y="3044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023360" y="32369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392 sessions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5760720" y="3127248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446520" y="30449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46520" y="32369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+30%</a:t>
            </a:r>
            <a:endParaRPr lang="en-US" sz="1900" dirty="0"/>
          </a:p>
        </p:txBody>
      </p:sp>
      <p:sp>
        <p:nvSpPr>
          <p:cNvPr id="37" name="Shape 35"/>
          <p:cNvSpPr/>
          <p:nvPr/>
        </p:nvSpPr>
        <p:spPr>
          <a:xfrm>
            <a:off x="8229600" y="3218688"/>
            <a:ext cx="594360" cy="310896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3218688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256032" y="3950208"/>
            <a:ext cx="8631936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56032" y="3950208"/>
            <a:ext cx="91440" cy="841248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" y="4041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 Rate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75488" y="43891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reduction via new gateways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023360" y="40325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023360" y="42245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5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sessions</a:t>
            </a:r>
            <a:endParaRPr lang="en-US" sz="1900" dirty="0"/>
          </a:p>
        </p:txBody>
      </p:sp>
      <p:sp>
        <p:nvSpPr>
          <p:cNvPr id="45" name="Text 43"/>
          <p:cNvSpPr/>
          <p:nvPr/>
        </p:nvSpPr>
        <p:spPr>
          <a:xfrm>
            <a:off x="5760720" y="4114800"/>
            <a:ext cx="594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6446520" y="40325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889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46520" y="42245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B1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60</a:t>
            </a:r>
            <a:endParaRPr lang="en-US" sz="1900" dirty="0"/>
          </a:p>
        </p:txBody>
      </p:sp>
      <p:sp>
        <p:nvSpPr>
          <p:cNvPr id="48" name="Shape 46"/>
          <p:cNvSpPr/>
          <p:nvPr/>
        </p:nvSpPr>
        <p:spPr>
          <a:xfrm>
            <a:off x="8229600" y="4206240"/>
            <a:ext cx="594360" cy="310896"/>
          </a:xfrm>
          <a:prstGeom prst="rect">
            <a:avLst/>
          </a:prstGeom>
          <a:solidFill>
            <a:srgbClr val="0B1D3E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0" y="4206240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A7E8C"/>
          </a:solidFill>
          <a:ln/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143500"/>
          </a:xfrm>
          <a:prstGeom prst="rect">
            <a:avLst/>
          </a:prstGeom>
          <a:solidFill>
            <a:srgbClr val="E0394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626864"/>
            <a:ext cx="9144000" cy="516636"/>
          </a:xfrm>
          <a:prstGeom prst="rect">
            <a:avLst/>
          </a:prstGeom>
          <a:solidFill>
            <a:srgbClr val="060F22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35024"/>
            <a:ext cx="8138160" cy="36576"/>
          </a:xfrm>
          <a:prstGeom prst="rect">
            <a:avLst/>
          </a:prstGeom>
          <a:solidFill>
            <a:srgbClr val="E89B45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475488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5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786384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621792" y="1463040"/>
            <a:ext cx="4059936" cy="1389888"/>
          </a:xfrm>
          <a:prstGeom prst="rect">
            <a:avLst/>
          </a:prstGeom>
          <a:solidFill>
            <a:srgbClr val="0D2355"/>
          </a:solidFill>
          <a:ln w="12700">
            <a:solidFill>
              <a:srgbClr val="0A7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55448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43584" y="1554480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is the Critical Drop Point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" y="1938528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70.7% abandonment rate — mainly driven by payment friction and hidden costs, not lack of product interest.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9744" y="1472184"/>
            <a:ext cx="3758184" cy="1380744"/>
          </a:xfrm>
          <a:prstGeom prst="rect">
            <a:avLst/>
          </a:prstGeom>
          <a:solidFill>
            <a:srgbClr val="0D2355"/>
          </a:solidFill>
          <a:ln w="12700">
            <a:solidFill>
              <a:srgbClr val="0A7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47488" y="155448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59552" y="1554480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UX Needs Priority Attention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65776" y="1938528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708 of 1000 sessions are on mobile with 71.9% abandonment 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mobile UX has the largest potential impact.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017520"/>
            <a:ext cx="4059936" cy="1389888"/>
          </a:xfrm>
          <a:prstGeom prst="rect">
            <a:avLst/>
          </a:prstGeom>
          <a:solidFill>
            <a:srgbClr val="0D2355"/>
          </a:solidFill>
          <a:ln w="12700">
            <a:solidFill>
              <a:srgbClr val="0A7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1089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243584" y="3108960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Diversity is Non-Negotiable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" y="3493008"/>
            <a:ext cx="3840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direct payment failures and 109 cost-shock abandonments account for 229 lost conversions.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17812" y="3020209"/>
            <a:ext cx="3750116" cy="1387199"/>
          </a:xfrm>
          <a:prstGeom prst="rect">
            <a:avLst/>
          </a:prstGeom>
          <a:solidFill>
            <a:srgbClr val="0D2355"/>
          </a:solidFill>
          <a:ln w="12700">
            <a:solidFill>
              <a:srgbClr val="0A7E8C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47488" y="31089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559552" y="3108960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9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Category-Specific Optimization Needed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65776" y="3602736"/>
            <a:ext cx="357530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(37.7%) vs Home (22.4%) shows a 15.3% conversion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8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 targeted UX improvements per category can close this.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72744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7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1,000 sessions   |   All metrics calculated directly from raw data   |   Assumptions: Simulated dataset; user intent inferred from behavior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1119</Words>
  <Application>Microsoft Office PowerPoint</Application>
  <PresentationFormat>On-screen Show (16:9)</PresentationFormat>
  <Paragraphs>252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Reducing Cart Abandonment in E-commerce</dc:title>
  <dc:subject>PptxGenJS Presentation</dc:subject>
  <dc:creator>PptxGenJS</dc:creator>
  <cp:lastModifiedBy>Srividya JAKKULA</cp:lastModifiedBy>
  <cp:revision>11</cp:revision>
  <dcterms:created xsi:type="dcterms:W3CDTF">2026-05-02T15:24:54Z</dcterms:created>
  <dcterms:modified xsi:type="dcterms:W3CDTF">2026-05-02T16:27:45Z</dcterms:modified>
</cp:coreProperties>
</file>